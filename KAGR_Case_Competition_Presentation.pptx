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Generating $20.5M in Incremental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Strategic Initiatives for Midwest State Athletics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KODING with KAGR Case Competition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 b="1">
                <a:solidFill>
                  <a:srgbClr val="003366"/>
                </a:solidFill>
              </a:defRPr>
            </a:pPr>
            <a:r>
              <a:t>The Challenge:</a:t>
            </a:r>
          </a:p>
          <a:p>
            <a:pPr lvl="1">
              <a:spcAft>
                <a:spcPts val="600"/>
              </a:spcAft>
              <a:defRPr sz="1600"/>
            </a:pPr>
            <a:r>
              <a:t>NCAA vs. House settlement: $20.5M annual impact (10 years)</a:t>
            </a:r>
          </a:p>
          <a:p>
            <a:pPr lvl="1">
              <a:spcAft>
                <a:spcPts val="600"/>
              </a:spcAft>
              <a:defRPr sz="1600"/>
            </a:pPr>
            <a:r>
              <a:t>Revenue sharing starting 2025-26: up to 22% of revenue to athletes</a:t>
            </a:r>
          </a:p>
          <a:p>
            <a:pPr lvl="1">
              <a:spcAft>
                <a:spcPts val="600"/>
              </a:spcAft>
              <a:defRPr sz="1600"/>
            </a:pPr>
            <a:r>
              <a:t>Bottom Line: Need 27% revenue growth to remain competitive</a:t>
            </a:r>
          </a:p>
          <a:p>
            <a:br/>
            <a:pPr>
              <a:spcAft>
                <a:spcPts val="600"/>
              </a:spcAft>
              <a:defRPr sz="2000" b="1">
                <a:solidFill>
                  <a:srgbClr val="003366"/>
                </a:solidFill>
              </a:defRPr>
            </a:pPr>
            <a:r>
              <a:t>Current Position:</a:t>
            </a:r>
          </a:p>
          <a:p>
            <a:pPr lvl="1">
              <a:spcAft>
                <a:spcPts val="600"/>
              </a:spcAft>
              <a:defRPr sz="1600"/>
            </a:pPr>
            <a:r>
              <a:t>Total Athletic Revenue: $94.4M (at NCAA Div I average)</a:t>
            </a:r>
          </a:p>
          <a:p>
            <a:pPr lvl="1">
              <a:spcAft>
                <a:spcPts val="600"/>
              </a:spcAft>
              <a:defRPr sz="1600"/>
            </a:pPr>
            <a:r>
              <a:t>Strong programs: Football, Men's Basketball</a:t>
            </a:r>
          </a:p>
          <a:p>
            <a:pPr lvl="1">
              <a:spcAft>
                <a:spcPts val="600"/>
              </a:spcAft>
              <a:defRPr sz="1600"/>
            </a:pPr>
            <a:r>
              <a:t>Question: Where do we find $20.5M+ without alienating fans?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Current State: Revenue Composition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7970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Critical Finding #1: Women's Basketball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572000" cy="30540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Survey shows 85 interest score (vs. Men's 88)</a:t>
            </a:r>
          </a:p>
          <a:p>
            <a:pPr>
              <a:spcAft>
                <a:spcPts val="800"/>
              </a:spcAft>
              <a:defRPr sz="1400"/>
            </a:pPr>
            <a:r>
              <a:t>Only 43.5% capacity utilization</a:t>
            </a:r>
          </a:p>
          <a:p>
            <a:pPr>
              <a:spcAft>
                <a:spcPts val="800"/>
              </a:spcAft>
              <a:defRPr sz="1400"/>
            </a:pPr>
            <a:r>
              <a:t>Same 12,000-seat arena as Men's</a:t>
            </a:r>
          </a:p>
          <a:p>
            <a:pPr>
              <a:spcAft>
                <a:spcPts val="800"/>
              </a:spcAft>
              <a:defRPr sz="1400"/>
            </a:pPr>
            <a:r>
              <a:t>Gap = 3,988 empty seats/game</a:t>
            </a:r>
          </a:p>
          <a:p>
            <a:pPr>
              <a:spcAft>
                <a:spcPts val="800"/>
              </a:spcAft>
              <a:defRPr sz="1400"/>
            </a:pPr>
            <a:r>
              <a:t>Opportunity: $4.4M annually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Critical Finding #2: Corporate Partnership Gap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572000" cy="30368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Midwest State: 9.2% corporate</a:t>
            </a:r>
          </a:p>
          <a:p>
            <a:pPr>
              <a:spcAft>
                <a:spcPts val="800"/>
              </a:spcAft>
              <a:defRPr sz="1400"/>
            </a:pPr>
            <a:r>
              <a:t>Peer average: 15%</a:t>
            </a:r>
          </a:p>
          <a:p>
            <a:pPr>
              <a:spcAft>
                <a:spcPts val="800"/>
              </a:spcAft>
              <a:defRPr sz="1400"/>
            </a:pPr>
            <a:r>
              <a:t>38% below benchmark</a:t>
            </a:r>
          </a:p>
          <a:p>
            <a:pPr>
              <a:spcAft>
                <a:spcPts val="800"/>
              </a:spcAft>
              <a:defRPr sz="1400"/>
            </a:pPr>
            <a:r>
              <a:t>Opportunity: +100K corporate attendees</a:t>
            </a:r>
          </a:p>
          <a:p>
            <a:pPr>
              <a:spcAft>
                <a:spcPts val="800"/>
              </a:spcAft>
              <a:defRPr sz="1400"/>
            </a:pPr>
            <a:r>
              <a:t>Projected impact: $7.5M annually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Full Initiative Portfolio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116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Seven 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8288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Annual Impact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Implementation Cost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Net Impact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Dynamic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$3.8M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Women's BB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$4.4M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Corporate Partnerships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$7.5M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Premium Seating 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$1.2M*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$2.8M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Digital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$2.8M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Merchandise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$1.9M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Alumni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$0.9M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$27.9M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$3.8M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$24.1M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Flexibility - Phased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6633"/>
                </a:solidFill>
              </a:defRPr>
            </a:pPr>
            <a:r>
              <a:t>Tier 1 - Start Here (Months 0-3): $15.7M</a:t>
            </a:r>
          </a:p>
          <a:p>
            <a:pPr lvl="1">
              <a:spcAft>
                <a:spcPts val="600"/>
              </a:spcAft>
              <a:defRPr sz="1400"/>
            </a:pPr>
            <a:r>
              <a:t>Dynamic Pricing ($3.8M net)</a:t>
            </a:r>
          </a:p>
          <a:p>
            <a:pPr lvl="1">
              <a:spcAft>
                <a:spcPts val="600"/>
              </a:spcAft>
              <a:defRPr sz="1400"/>
            </a:pPr>
            <a:r>
              <a:t>Women's Basketball Growth ($4.4M net)</a:t>
            </a:r>
          </a:p>
          <a:p>
            <a:pPr lvl="1">
              <a:spcAft>
                <a:spcPts val="600"/>
              </a:spcAft>
              <a:defRPr sz="1400"/>
            </a:pPr>
            <a:r>
              <a:t>Corporate Partnership Expansion ($7.5M net)</a:t>
            </a:r>
          </a:p>
          <a:p>
            <a:br/>
            <a:pPr>
              <a:defRPr sz="1800" b="1">
                <a:solidFill>
                  <a:srgbClr val="CC6600"/>
                </a:solidFill>
              </a:defRPr>
            </a:pPr>
            <a:r>
              <a:t>Tier 2 - Quick Wins (Months 3-9): $20.4M Total</a:t>
            </a:r>
          </a:p>
          <a:p>
            <a:pPr lvl="1">
              <a:spcAft>
                <a:spcPts val="600"/>
              </a:spcAft>
              <a:defRPr sz="1400"/>
            </a:pPr>
            <a:r>
              <a:t>Digital Platform ($2.8M net)</a:t>
            </a:r>
          </a:p>
          <a:p>
            <a:pPr lvl="1">
              <a:spcAft>
                <a:spcPts val="600"/>
              </a:spcAft>
              <a:defRPr sz="1400"/>
            </a:pPr>
            <a:r>
              <a:t>Merchandise Optimization ($1.9M net)</a:t>
            </a:r>
          </a:p>
          <a:p>
            <a:br/>
            <a:pPr>
              <a:defRPr sz="1800" b="1">
                <a:solidFill>
                  <a:srgbClr val="003366"/>
                </a:solidFill>
              </a:defRPr>
            </a:pPr>
            <a:r>
              <a:t>Tier 3 - Long-term (Months 9-18): $24.1M Total</a:t>
            </a:r>
          </a:p>
          <a:p>
            <a:pPr lvl="1">
              <a:spcAft>
                <a:spcPts val="600"/>
              </a:spcAft>
              <a:defRPr sz="1400"/>
            </a:pPr>
            <a:r>
              <a:t>Premium Seating ($2.8M net, capital intensive)</a:t>
            </a:r>
          </a:p>
          <a:p>
            <a:pPr lvl="1">
              <a:spcAft>
                <a:spcPts val="600"/>
              </a:spcAft>
              <a:defRPr sz="1400"/>
            </a:pPr>
            <a:r>
              <a:t>Alumni Engagement ($0.9M net)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Summary:</a:t>
            </a:r>
          </a:p>
          <a:p>
            <a:pPr lvl="1">
              <a:spcAft>
                <a:spcPts val="1000"/>
              </a:spcAft>
              <a:defRPr sz="1600"/>
            </a:pPr>
            <a:r>
              <a:t>Challenge: Generate $20.5M to offset House settlement</a:t>
            </a:r>
          </a:p>
          <a:p>
            <a:pPr lvl="1">
              <a:spcAft>
                <a:spcPts val="1000"/>
              </a:spcAft>
              <a:defRPr sz="1600"/>
            </a:pPr>
            <a:r>
              <a:t>Solution: 7 data-driven initiatives</a:t>
            </a:r>
          </a:p>
          <a:p>
            <a:pPr lvl="1">
              <a:spcAft>
                <a:spcPts val="1000"/>
              </a:spcAft>
              <a:defRPr sz="1600"/>
            </a:pPr>
            <a:r>
              <a:t>Result: $24.1M net revenue (24% above target)</a:t>
            </a:r>
          </a:p>
          <a:p>
            <a:pPr lvl="1">
              <a:spcAft>
                <a:spcPts val="1000"/>
              </a:spcAft>
              <a:defRPr sz="1600"/>
            </a:pPr>
            <a:r>
              <a:t>Timeline: 12-18 months to full implementation</a:t>
            </a:r>
          </a:p>
          <a:p>
            <a:br/>
            <a:pPr>
              <a:spcBef>
                <a:spcPts val="1500"/>
              </a:spcBef>
              <a:defRPr sz="2000" b="1">
                <a:solidFill>
                  <a:srgbClr val="003366"/>
                </a:solidFill>
              </a:defRPr>
            </a:pPr>
            <a:r>
              <a:t>Immediate Next Steps:</a:t>
            </a:r>
          </a:p>
          <a:p>
            <a:pPr lvl="1">
              <a:spcAft>
                <a:spcPts val="1000"/>
              </a:spcAft>
              <a:defRPr sz="1600"/>
            </a:pPr>
            <a:r>
              <a:t>Week 1-2: Approve Tier 1 initiatives, RFP for dynamic pricing vendor</a:t>
            </a:r>
          </a:p>
          <a:p>
            <a:pPr lvl="1">
              <a:spcAft>
                <a:spcPts val="1000"/>
              </a:spcAft>
              <a:defRPr sz="1600"/>
            </a:pPr>
            <a:r>
              <a:t>Months 1-3: Launch women's basketball campaign, pilot dynamic pricing</a:t>
            </a:r>
          </a:p>
          <a:p>
            <a:pPr lvl="1">
              <a:spcAft>
                <a:spcPts val="1000"/>
              </a:spcAft>
              <a:defRPr sz="1600"/>
            </a:pPr>
            <a:r>
              <a:t>Months 6-18: Full deployment, measure and optimize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