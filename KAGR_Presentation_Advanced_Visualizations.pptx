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The NCAA vs. House settlement requires us to generate $20.5 million in new annual revenue.</a:t>
            </a:r>
          </a:p>
          <a:p/>
          <a:p>
            <a:r>
              <a:t>This isn't optional—it's critical to maintaining our competitive excellence and supporting our student-athletes.</a:t>
            </a:r>
          </a:p>
          <a:p/>
          <a:p>
            <a:r>
              <a:t>This gauge visualization shows the magnitude of the challenge we face. We need to be strategic, data-driven, and fan-focused in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We currently generate $94.4 million annually across all athletic programs.</a:t>
            </a:r>
          </a:p>
          <a:p/>
          <a:p>
            <a:r>
              <a:t>Ticket sales represent 42% of revenue at $39.8M, followed by concessions at 31% ($28.8M), parking at 15% ($13.9M), and merchandise at 12% ($11.8M).</a:t>
            </a:r>
          </a:p>
          <a:p/>
          <a:p>
            <a:r>
              <a:t>We have 312 events across 6 sports with average attendance of 13,500 and 68.5% capacity utilization. There's room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When we compare ourselves to Power 5 conference peers like UT Austin, Ohio State, Michigan, Penn State, and Wisconsin, we see significant opportunities.</a:t>
            </a:r>
          </a:p>
          <a:p/>
          <a:p>
            <a:r>
              <a:t>We're 38% below peers in corporate partnerships (9.2% vs 15%). We're 33% below in premium seating (8% vs 18%). Women's basketball capacity utilization is 21.5 points below average.</a:t>
            </a:r>
          </a:p>
          <a:p/>
          <a:p>
            <a:r>
              <a:t>These gaps represent untapped revenue potential, not weaknesses. Our fans are here—we just need to engage them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THIS is our biggest single opportunity.</a:t>
            </a:r>
          </a:p>
          <a:p/>
          <a:p>
            <a:r>
              <a:t>Fan interest in women's basketball is 85 out of 100—nearly identical to men's basketball at 88. But our capacity utilization is only 43.5% compared to 84% for men.</a:t>
            </a:r>
          </a:p>
          <a:p/>
          <a:p>
            <a:r>
              <a:t>Same arena. Same interest level. But 40 percentage points lower attendance.</a:t>
            </a:r>
          </a:p>
          <a:p/>
          <a:p>
            <a:r>
              <a:t>If we simply bring women's basketball attendance to 60% capacity—still below men's—that's $4 million in annual revenue. Success stories at Iowa (174% growth) and South Carolina show this is achievable.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We've identified 7 strategic initiatives, carefully balanced across timelines and effort levels.</a:t>
            </a:r>
          </a:p>
          <a:p/>
          <a:p>
            <a:r>
              <a:t>QUICK WINS (3 months): Dynamic pricing and alumni programs - $5.1M combined, minimal investment.</a:t>
            </a:r>
          </a:p>
          <a:p/>
          <a:p>
            <a:r>
              <a:t>SHORT-TERM (4-6 months): Merchandise expansion, women's basketball growth, digital platform - $8.7M combined.</a:t>
            </a:r>
          </a:p>
          <a:p/>
          <a:p>
            <a:r>
              <a:t>STRATEGIC (9 months): Corporate partnerships - $7.5M, our largest single initiative.</a:t>
            </a:r>
          </a:p>
          <a:p/>
          <a:p>
            <a:r>
              <a:t>LONG-TERM (12 months): Premium seating infrastructure - $2.8M annually, 3-year payback.</a:t>
            </a:r>
          </a:p>
          <a:p/>
          <a:p>
            <a:r>
              <a:t>Together, they're diversified, achievable, and proven at peer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Here's our path from $94 million to $120 million—exceeding the $20.5M target by $4.6 million.</a:t>
            </a:r>
          </a:p>
          <a:p/>
          <a:p>
            <a:r>
              <a:t>Each step builds on the last. Dynamic pricing adds $4.2M with minimal investment. Women's basketball growth adds $4.0M. Corporate partnerships add $7.5M—our largest initiative.</a:t>
            </a:r>
          </a:p>
          <a:p/>
          <a:p>
            <a:r>
              <a:t>Combined with premium seating, digital transformation, merchandise expansion, and alumni programs, we reach $119.5M in total revenue.</a:t>
            </a:r>
          </a:p>
          <a:p/>
          <a:p>
            <a:r>
              <a:t>That's $25.1M in new revenue, 122% of our target. We're not just meeting the challenge—we're exceeding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This is achievable in 18 months with clear milestones.</a:t>
            </a:r>
          </a:p>
          <a:p/>
          <a:p>
            <a:r>
              <a:t>Q1 2025: Quick wins launch—dynamic pricing and alumni programs. $5.1M achieved.</a:t>
            </a:r>
          </a:p>
          <a:p/>
          <a:p>
            <a:r>
              <a:t>Q2 2025: Phase 1 completes—add merchandise, women's basketball growth, digital platform. $14.6M total.</a:t>
            </a:r>
          </a:p>
          <a:p/>
          <a:p>
            <a:r>
              <a:t>Q3 2025: Corporate partnerships ramp up. $17.6M total.</a:t>
            </a:r>
          </a:p>
          <a:p/>
          <a:p>
            <a:r>
              <a:t>Q4 2025 &amp; Beyond: Premium seating construction. Target exceeded at $20.5M+.</a:t>
            </a:r>
          </a:p>
          <a:p/>
          <a:p>
            <a:r>
              <a:t>Each milestone is measurable, each initiative has an owner, and we have contingency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Every single initiative delivers strong ROI.</a:t>
            </a:r>
          </a:p>
          <a:p/>
          <a:p>
            <a:r>
              <a:t>Dynamic pricing has the highest ROI at 2,700%—requiring only $150K to generate $4.2M annually. 3-month payback.</a:t>
            </a:r>
          </a:p>
          <a:p/>
          <a:p>
            <a:r>
              <a:t>Corporate partnerships require $500K but return $7.5M annually. 14-month payback, 1,400% ROI.</a:t>
            </a:r>
          </a:p>
          <a:p/>
          <a:p>
            <a:r>
              <a:t>Even premium seating, our largest investment at $8.5M, delivers $2.8M annually with a 3-year payback and 280% 5-year ROI.</a:t>
            </a:r>
          </a:p>
          <a:p/>
          <a:p>
            <a:r>
              <a:t>Average ROI across all initiatives: 723%. Every dollar invested returns over $7.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/>
          <a:p>
            <a:r>
              <a:t>In summary:</a:t>
            </a:r>
          </a:p>
          <a:p/>
          <a:p>
            <a:r>
              <a:t>THE CHALLENGE: We face a $20.5M annual revenue gap from NCAA settlement obligations.</a:t>
            </a:r>
          </a:p>
          <a:p/>
          <a:p>
            <a:r>
              <a:t>THE SOLUTION: 7 strategic initiatives spanning quick wins to long-term investments.</a:t>
            </a:r>
          </a:p>
          <a:p/>
          <a:p>
            <a:r>
              <a:t>THE NUMBERS: We project $25.1M in new revenue—exceeding our target by 22%. Average ROI is 723%. Timeline is 18 months. Risk is low at 3.2 out of 10.</a:t>
            </a:r>
          </a:p>
          <a:p/>
          <a:p>
            <a:r>
              <a:t>THE COMMITMENT: We maintain fan satisfaction above 4.0 throughout, enhance the gameday experience, and build sustainable competitive advantage.</a:t>
            </a:r>
          </a:p>
          <a:p/>
          <a:p>
            <a:r>
              <a:t>We're ready to execute. We have the data, the plan, and the team to make this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1B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Strategic Revenue Optimization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Midwest State University Athletics | KAGR Case Competition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1BA"/>
                </a:solidFill>
              </a:defRPr>
            </a:pPr>
            <a:r>
              <a:t>Today's Story: From Challenge to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/>
            </a:pPr>
          </a:p>
          <a:p>
            <a:r>
              <a:t>ACT 1: THE PROBLEM</a:t>
            </a:r>
          </a:p>
          <a:p>
            <a:r>
              <a:t>    • The Challenge: $20.5M NCAA Settlement</a:t>
            </a:r>
          </a:p>
          <a:p>
            <a:r>
              <a:t>    • Current State: Where we are today</a:t>
            </a:r>
          </a:p>
          <a:p>
            <a:r>
              <a:t>    • The Gaps: Where we're behind</a:t>
            </a:r>
          </a:p>
          <a:p/>
          <a:p>
            <a:r>
              <a:t>ACT 2: THE OPPORTUNITY</a:t>
            </a:r>
          </a:p>
          <a:p>
            <a:r>
              <a:t>    • Women's Basketball: The paradox</a:t>
            </a:r>
          </a:p>
          <a:p>
            <a:r>
              <a:t>    • 7 Strategic Initiatives</a:t>
            </a:r>
          </a:p>
          <a:p/>
          <a:p>
            <a:r>
              <a:t>ACT 3: THE SOLUTION</a:t>
            </a:r>
          </a:p>
          <a:p>
            <a:r>
              <a:t>    • Revenue Roadmap: $94M → $120M</a:t>
            </a:r>
          </a:p>
          <a:p>
            <a:r>
              <a:t>    • Implementation Timeline</a:t>
            </a:r>
          </a:p>
          <a:p>
            <a:r>
              <a:t>    • Return on Investment</a:t>
            </a:r>
          </a:p>
          <a:p/>
          <a:p>
            <a:r>
              <a:t>FINALE: Executive Summary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NCAA vs. House Settlement Financial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docs/viz_01_challenge_gauge.html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Required: $20.5M annually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Timeline: Immediate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Risk: High if not addressed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Impact: All 6 sports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Midwest State Athletics Revenue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docs/viz_02_current_state_dashboard.html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Total Revenue: $94.4M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Ticket Sales: 42%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Concessions: 31%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Capacity: 68.5%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Events: 312/year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The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Midwest State vs. Power 5 Conference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docs/viz_03_gap_analysis.html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Corporate: 38% below peers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Premium Seating: 56% below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Women's BB: 33% below capacity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Digital: 64% below leaders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Source: NCAA Financial Database 2023-24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The Women's Basketball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High Fan Interest, Low Attendance = Biggest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docs/viz_04_womens_bb_opportunity.html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Interest Score: 85/100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Current Capacity: 43.5%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Men's Capacity: 84%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Opportunity: $4.0M/year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Target: 60% capacity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7 Strategic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Balanced Portfolio: Quick Wins to Long-Term Investments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docs/viz_05_initiative_bubbles.html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Quick Wins: $5.1M (0-3mo)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Short-term: $8.7M (3-6mo)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Strategic: $7.5M (9mo)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Long-term: $2.8M (12mo)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Total: $24.1M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Exceeds target by $3.6M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Revenue 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From $94M to $120M: The 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docs/viz_06_revenue_waterfall.html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Starting: $94.4M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Target: $114.9M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Projected: $119.5M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New Revenue: $25.1M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Exceeds by: $4.6M (22%)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18-Month Strategic Plan with Clear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docs/viz_07_implementation_roadmap.html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Q1: Quick wins ($5.1M)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Q2: Phase 1 complete ($14.6M)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Q3: Corporate ramp ($17.6M)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Q4: Target achieved ($20.5M+)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18 months: Full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Every Initiative is Above Break-Even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docs/viz_08_roi_comparison.html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Best ROI: 2,700% (Dynamic)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Highest Return: $7.5M (Corporate)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Average ROI: 723%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Avg Payback: 10 months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All above break-even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1B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The Complete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9144000" cy="5486400"/>
          </a:xfrm>
          <a:prstGeom prst="rect">
            <a:avLst/>
          </a:prstGeom>
          <a:solidFill>
            <a:srgbClr val="F2F2F2"/>
          </a:solidFill>
          <a:ln w="38100">
            <a:solidFill>
              <a:srgbClr val="0051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📊 VISUALIZATION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Open: docs/viz_09_executive_summary.html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(Interactive HTML chart)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Screenshot and paste here,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or demo live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82880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41E3A"/>
                </a:solidFill>
              </a:defRPr>
            </a:pPr>
            <a:r>
              <a:t>KEY NUMBERS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Challenge: $20.5M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Projected: $25.1M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Exceeds by: 22%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Initiatives: 7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ROI: 723% average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Timeline: 18 months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Risk: LOW (3.2/10)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